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7baab7e02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d7baab7e02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d7baab7e02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7baab7e02_2_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7baab7e02_2_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7baab7e02_2_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baab7e02_2_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d7baab7e02_2_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7baab7e02_2_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7baab7e02_2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7baab7e02_2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7baab7e02_2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7baab7e02_2_1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d7baab7e02_2_10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7baab7e02_2_10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7baab7e02_2_1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d7baab7e02_2_1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7baab7e02_2_1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7baab7e02_2_1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d7baab7e02_2_1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7baab7e02_2_1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7baab7e02_2_1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d7baab7e02_2_1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d7baab7e02_2_1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7baab7e02_2_2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d7baab7e02_2_2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d7baab7e02_2_2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7baab7e02_2_2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d7baab7e02_2_2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7baab7e02_2_2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7baab7e02_2_2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d7baab7e02_2_2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d7baab7e02_2_2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1219200" y="1097280"/>
            <a:ext cx="9753600" cy="341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b="1" i="0" lang="en-US" sz="5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 5 - DE1-SOC CAMERA,</a:t>
            </a:r>
            <a:endParaRPr b="0" i="0" sz="5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b="1" i="0" lang="en-US" sz="5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PROCESSING, AND</a:t>
            </a:r>
            <a:endParaRPr b="0" i="0" sz="5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b="1" i="0" lang="en-US" sz="5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VGA DISPLAY</a:t>
            </a:r>
            <a:endParaRPr b="0" i="0" sz="5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1219200" y="4754880"/>
            <a:ext cx="97536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7FB3D3"/>
                </a:solidFill>
                <a:latin typeface="Calibri"/>
                <a:ea typeface="Calibri"/>
                <a:cs typeface="Calibri"/>
                <a:sym typeface="Calibri"/>
              </a:rPr>
              <a:t>EEC 193 Digital Systems Design Project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1219200" y="5364480"/>
            <a:ext cx="97536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0A8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7B90A8"/>
                </a:solidFill>
                <a:latin typeface="Calibri"/>
                <a:ea typeface="Calibri"/>
                <a:cs typeface="Calibri"/>
                <a:sym typeface="Calibri"/>
              </a:rPr>
              <a:t>Isidro, Justin, Max, Ricardo, Yaseen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2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26720" y="97536"/>
            <a:ext cx="1133856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365760" y="792480"/>
            <a:ext cx="1146048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6"/>
          <p:cNvSpPr/>
          <p:nvPr/>
        </p:nvSpPr>
        <p:spPr>
          <a:xfrm>
            <a:off x="548640" y="1036320"/>
            <a:ext cx="11094720" cy="1950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Acquisition:  </a:t>
            </a: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lab focuses on interfacing the D8M-GPIO camera with the DE1-SoC to capture raw pixel data. Using the D8M_SET.v module and line buffers, </a:t>
            </a:r>
            <a:r>
              <a:rPr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will synchronize the camera's 640×480 output with the VGA display to handle the frequency differences between the two hardware components.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48640" y="3413760"/>
            <a:ext cx="11094720" cy="1950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Processing:  </a:t>
            </a: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objective is to implement hardware-level filters and interactive UI elements using Verilog. This includes performing luminance calculations for grayscale conversion via fractional multipliers, managing RGB color scaling with SW switches, and designing a responsive cursor system controlled by physical KEY buttons.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2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609600" y="390144"/>
            <a:ext cx="1097280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Design Requirements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7"/>
          <p:cNvCxnSpPr/>
          <p:nvPr/>
        </p:nvCxnSpPr>
        <p:spPr>
          <a:xfrm>
            <a:off x="609600" y="1341120"/>
            <a:ext cx="109728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17"/>
          <p:cNvSpPr/>
          <p:nvPr/>
        </p:nvSpPr>
        <p:spPr>
          <a:xfrm>
            <a:off x="548640" y="1767840"/>
            <a:ext cx="3511296" cy="4267200"/>
          </a:xfrm>
          <a:prstGeom prst="roundRect">
            <a:avLst>
              <a:gd fmla="val 4167" name="adj"/>
            </a:avLst>
          </a:prstGeom>
          <a:solidFill>
            <a:srgbClr val="1E2D45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92224" y="2011680"/>
            <a:ext cx="1024128" cy="1024128"/>
          </a:xfrm>
          <a:prstGeom prst="ellipse">
            <a:avLst/>
          </a:prstGeom>
          <a:solidFill>
            <a:srgbClr val="1E4A8A"/>
          </a:solidFill>
          <a:ln cap="flat" cmpd="sng" w="12700">
            <a:solidFill>
              <a:srgbClr val="1E4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1792224" y="2011680"/>
            <a:ext cx="1024128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768096" y="3169920"/>
            <a:ext cx="3072384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Clock Domain Synchronization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768096" y="3901440"/>
            <a:ext cx="307238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Effectively bridge the 50MHz FPGA system clock and the 25MHz VGA pixel clock. This ensures that the state machines and VGA output stage remain stable.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352544" y="1767840"/>
            <a:ext cx="3511296" cy="4267200"/>
          </a:xfrm>
          <a:prstGeom prst="roundRect">
            <a:avLst>
              <a:gd fmla="val 4167" name="adj"/>
            </a:avLst>
          </a:prstGeom>
          <a:solidFill>
            <a:srgbClr val="1E2D45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5596128" y="2011680"/>
            <a:ext cx="1024128" cy="1024128"/>
          </a:xfrm>
          <a:prstGeom prst="ellipse">
            <a:avLst/>
          </a:prstGeom>
          <a:solidFill>
            <a:srgbClr val="1E4A8A"/>
          </a:solidFill>
          <a:ln cap="flat" cmpd="sng" w="12700">
            <a:solidFill>
              <a:srgbClr val="1E4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5596128" y="2011680"/>
            <a:ext cx="1024128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572000" y="3169920"/>
            <a:ext cx="3072384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Boundary Logic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572000" y="3901440"/>
            <a:ext cx="307238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System needs to recognize where the "walls" are, so keeping track of the cursor's position is a good technique — if you touch it, stop movement.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8156448" y="1767840"/>
            <a:ext cx="3511296" cy="4267200"/>
          </a:xfrm>
          <a:prstGeom prst="roundRect">
            <a:avLst>
              <a:gd fmla="val 4167" name="adj"/>
            </a:avLst>
          </a:prstGeom>
          <a:solidFill>
            <a:srgbClr val="1E2D45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9400032" y="2011680"/>
            <a:ext cx="1024128" cy="1024128"/>
          </a:xfrm>
          <a:prstGeom prst="ellipse">
            <a:avLst/>
          </a:prstGeom>
          <a:solidFill>
            <a:srgbClr val="1E4A8A"/>
          </a:solidFill>
          <a:ln cap="flat" cmpd="sng" w="12700">
            <a:solidFill>
              <a:srgbClr val="1E4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9400032" y="2011680"/>
            <a:ext cx="1024128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8375904" y="3169920"/>
            <a:ext cx="3072384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Controls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8375904" y="3901440"/>
            <a:ext cx="307238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Like a game controller, each switch has a specified function. When you flip a switch, the system instantly updates what's on screen — color, filter, or cursor.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09600" y="6217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SW0 is reserved as the system reset signal across all filter modes.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426720" y="97536"/>
            <a:ext cx="1133856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 — System Architecture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121920" y="950976"/>
            <a:ext cx="1584960" cy="999744"/>
          </a:xfrm>
          <a:prstGeom prst="rect">
            <a:avLst/>
          </a:prstGeom>
          <a:solidFill>
            <a:srgbClr val="1A527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121920" y="1030956"/>
            <a:ext cx="1584960" cy="479877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DB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FDBFF"/>
                </a:solidFill>
                <a:latin typeface="Calibri"/>
                <a:ea typeface="Calibri"/>
                <a:cs typeface="Calibri"/>
                <a:sym typeface="Calibri"/>
              </a:rPr>
              <a:t>D8M Camera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121920" y="1470843"/>
            <a:ext cx="1584960" cy="439888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8MP Sensor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640×480 @60Hz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8"/>
          <p:cNvCxnSpPr/>
          <p:nvPr/>
        </p:nvCxnSpPr>
        <p:spPr>
          <a:xfrm>
            <a:off x="1706880" y="1450848"/>
            <a:ext cx="304800" cy="12192"/>
          </a:xfrm>
          <a:prstGeom prst="straightConnector1">
            <a:avLst/>
          </a:prstGeom>
          <a:noFill/>
          <a:ln cap="flat" cmpd="sng" w="22850">
            <a:solidFill>
              <a:srgbClr val="4FC3F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4" name="Google Shape;134;p18"/>
          <p:cNvSpPr/>
          <p:nvPr/>
        </p:nvSpPr>
        <p:spPr>
          <a:xfrm>
            <a:off x="1249680" y="1207008"/>
            <a:ext cx="121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CCD_DATA[9:0]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2011680" y="950976"/>
            <a:ext cx="1889760" cy="999744"/>
          </a:xfrm>
          <a:prstGeom prst="rect">
            <a:avLst/>
          </a:prstGeom>
          <a:solidFill>
            <a:srgbClr val="0B534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2011680" y="1030956"/>
            <a:ext cx="1889760" cy="479877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9DFBF"/>
                </a:solidFill>
                <a:latin typeface="Calibri"/>
                <a:ea typeface="Calibri"/>
                <a:cs typeface="Calibri"/>
                <a:sym typeface="Calibri"/>
              </a:rPr>
              <a:t>D8M_SET.v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2011680" y="1470843"/>
            <a:ext cx="1889760" cy="439888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RAW→RGB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3× Line Buffers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8"/>
          <p:cNvCxnSpPr/>
          <p:nvPr/>
        </p:nvCxnSpPr>
        <p:spPr>
          <a:xfrm>
            <a:off x="3901440" y="1450848"/>
            <a:ext cx="304800" cy="12192"/>
          </a:xfrm>
          <a:prstGeom prst="straightConnector1">
            <a:avLst/>
          </a:prstGeom>
          <a:noFill/>
          <a:ln cap="flat" cmpd="sng" w="22850">
            <a:solidFill>
              <a:srgbClr val="4FC3F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" name="Google Shape;139;p18"/>
          <p:cNvSpPr/>
          <p:nvPr/>
        </p:nvSpPr>
        <p:spPr>
          <a:xfrm>
            <a:off x="3444240" y="1207008"/>
            <a:ext cx="121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R/G/B[7:0]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206240" y="792480"/>
            <a:ext cx="4328160" cy="1341120"/>
          </a:xfrm>
          <a:prstGeom prst="rect">
            <a:avLst/>
          </a:prstGeom>
          <a:solidFill>
            <a:srgbClr val="1A2F1A"/>
          </a:solidFill>
          <a:ln cap="flat" cmpd="sng" w="254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4206240" y="829056"/>
            <a:ext cx="432816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Video Processing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291584" y="1194816"/>
            <a:ext cx="1280160" cy="670560"/>
          </a:xfrm>
          <a:prstGeom prst="rect">
            <a:avLst/>
          </a:prstGeom>
          <a:solidFill>
            <a:srgbClr val="154E7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291584" y="1248461"/>
            <a:ext cx="1280160" cy="321869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Filters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291584" y="1543507"/>
            <a:ext cx="1280160" cy="295047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SW1-SW6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693664" y="1194816"/>
            <a:ext cx="1341120" cy="670560"/>
          </a:xfrm>
          <a:prstGeom prst="rect">
            <a:avLst/>
          </a:prstGeom>
          <a:solidFill>
            <a:srgbClr val="5B2C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693664" y="1248461"/>
            <a:ext cx="1341120" cy="321869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Grayscale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5693664" y="1543507"/>
            <a:ext cx="1341120" cy="295047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Lum formula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7156704" y="1194816"/>
            <a:ext cx="1219200" cy="670560"/>
          </a:xfrm>
          <a:prstGeom prst="rect">
            <a:avLst/>
          </a:prstGeom>
          <a:solidFill>
            <a:srgbClr val="78421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156704" y="1248461"/>
            <a:ext cx="1219200" cy="321869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Cursor Draw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156704" y="1543507"/>
            <a:ext cx="1219200" cy="295047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KEY0-KEY3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>
            <a:off x="8534400" y="1463040"/>
            <a:ext cx="304800" cy="12192"/>
          </a:xfrm>
          <a:prstGeom prst="straightConnector1">
            <a:avLst/>
          </a:prstGeom>
          <a:noFill/>
          <a:ln cap="flat" cmpd="sng" w="22850">
            <a:solidFill>
              <a:srgbClr val="4FC3F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" name="Google Shape;152;p18"/>
          <p:cNvSpPr/>
          <p:nvPr/>
        </p:nvSpPr>
        <p:spPr>
          <a:xfrm>
            <a:off x="8077200" y="1219200"/>
            <a:ext cx="121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RGB[7:0]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8839200" y="950976"/>
            <a:ext cx="1706880" cy="999744"/>
          </a:xfrm>
          <a:prstGeom prst="rect">
            <a:avLst/>
          </a:prstGeom>
          <a:solidFill>
            <a:srgbClr val="6E2F0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8839200" y="1030956"/>
            <a:ext cx="1706880" cy="479877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D7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D7A0"/>
                </a:solidFill>
                <a:latin typeface="Calibri"/>
                <a:ea typeface="Calibri"/>
                <a:cs typeface="Calibri"/>
                <a:sym typeface="Calibri"/>
              </a:rPr>
              <a:t>VGA Display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8839200" y="1470843"/>
            <a:ext cx="1706880" cy="439888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640×480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25 MHz clk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21920" y="2218944"/>
            <a:ext cx="1584960" cy="877824"/>
          </a:xfrm>
          <a:prstGeom prst="rect">
            <a:avLst/>
          </a:prstGeom>
          <a:solidFill>
            <a:srgbClr val="1F304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121920" y="2289169"/>
            <a:ext cx="1584960" cy="421356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SW Switches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121920" y="2675412"/>
            <a:ext cx="1584960" cy="386243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SW0=Reset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SW1-SW8 filters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011680" y="2218944"/>
            <a:ext cx="1889760" cy="877824"/>
          </a:xfrm>
          <a:prstGeom prst="rect">
            <a:avLst/>
          </a:prstGeom>
          <a:solidFill>
            <a:srgbClr val="1C283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2011680" y="2289169"/>
            <a:ext cx="1889760" cy="421356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EB6BF"/>
                </a:solidFill>
                <a:latin typeface="Calibri"/>
                <a:ea typeface="Calibri"/>
                <a:cs typeface="Calibri"/>
                <a:sym typeface="Calibri"/>
              </a:rPr>
              <a:t>MIPI_BRIDGE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EB6BF"/>
                </a:solidFill>
                <a:latin typeface="Calibri"/>
                <a:ea typeface="Calibri"/>
                <a:cs typeface="Calibri"/>
                <a:sym typeface="Calibri"/>
              </a:rPr>
              <a:t>_Config.v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011680" y="2675412"/>
            <a:ext cx="1889760" cy="386243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I2C Init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0x1c / 0x6c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8"/>
          <p:cNvCxnSpPr/>
          <p:nvPr/>
        </p:nvCxnSpPr>
        <p:spPr>
          <a:xfrm>
            <a:off x="2950464" y="1950720"/>
            <a:ext cx="12192" cy="268224"/>
          </a:xfrm>
          <a:prstGeom prst="straightConnector1">
            <a:avLst/>
          </a:prstGeom>
          <a:noFill/>
          <a:ln cap="flat" cmpd="sng" w="19050">
            <a:solidFill>
              <a:srgbClr val="AEB6BF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63" name="Google Shape;163;p18"/>
          <p:cNvSpPr/>
          <p:nvPr/>
        </p:nvSpPr>
        <p:spPr>
          <a:xfrm>
            <a:off x="3023616" y="2011680"/>
            <a:ext cx="4876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6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6BF"/>
                </a:solidFill>
                <a:latin typeface="Calibri"/>
                <a:ea typeface="Calibri"/>
                <a:cs typeface="Calibri"/>
                <a:sym typeface="Calibri"/>
              </a:rPr>
              <a:t>I2C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121920" y="3218688"/>
            <a:ext cx="1584960" cy="792480"/>
          </a:xfrm>
          <a:prstGeom prst="rect">
            <a:avLst/>
          </a:prstGeom>
          <a:solidFill>
            <a:srgbClr val="1F304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121920" y="3282087"/>
            <a:ext cx="1584960" cy="380391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KEY Buttons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21920" y="3630777"/>
            <a:ext cx="1584960" cy="34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KEY0-KEY3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Cursor move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8"/>
          <p:cNvCxnSpPr/>
          <p:nvPr/>
        </p:nvCxnSpPr>
        <p:spPr>
          <a:xfrm>
            <a:off x="1706880" y="3608832"/>
            <a:ext cx="6669024" cy="0"/>
          </a:xfrm>
          <a:prstGeom prst="straightConnector1">
            <a:avLst/>
          </a:prstGeom>
          <a:noFill/>
          <a:ln cap="flat" cmpd="sng" w="19050">
            <a:solidFill>
              <a:srgbClr val="F39C12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68" name="Google Shape;168;p18"/>
          <p:cNvSpPr/>
          <p:nvPr/>
        </p:nvSpPr>
        <p:spPr>
          <a:xfrm>
            <a:off x="4267200" y="3340608"/>
            <a:ext cx="97536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KEY[3:0]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839200" y="2218944"/>
            <a:ext cx="1706880" cy="877824"/>
          </a:xfrm>
          <a:prstGeom prst="rect">
            <a:avLst/>
          </a:prstGeom>
          <a:solidFill>
            <a:srgbClr val="1B263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8839200" y="2289169"/>
            <a:ext cx="1706880" cy="421356"/>
          </a:xfrm>
          <a:prstGeom prst="rect">
            <a:avLst/>
          </a:prstGeom>
          <a:noFill/>
          <a:ln>
            <a:noFill/>
          </a:ln>
        </p:spPr>
        <p:txBody>
          <a:bodyPr anchorCtr="0" anchor="b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C3C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Clock &amp; Reset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839200" y="2675412"/>
            <a:ext cx="1706880" cy="386243"/>
          </a:xfrm>
          <a:prstGeom prst="rect">
            <a:avLst/>
          </a:prstGeom>
          <a:noFill/>
          <a:ln>
            <a:noFill/>
          </a:ln>
        </p:spPr>
        <p:txBody>
          <a:bodyPr anchorCtr="0" anchor="t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50 MHz PLL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25 MHz VGA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SW0=Reset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43840" y="6217920"/>
            <a:ext cx="243840" cy="243840"/>
          </a:xfrm>
          <a:prstGeom prst="rect">
            <a:avLst/>
          </a:prstGeom>
          <a:solidFill>
            <a:srgbClr val="1A527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48640" y="6217920"/>
            <a:ext cx="146304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194560" y="6217920"/>
            <a:ext cx="243840" cy="243840"/>
          </a:xfrm>
          <a:prstGeom prst="rect">
            <a:avLst/>
          </a:prstGeom>
          <a:solidFill>
            <a:srgbClr val="0B534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2499360" y="6217920"/>
            <a:ext cx="146304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RAW Decoder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145280" y="6217920"/>
            <a:ext cx="243840" cy="243840"/>
          </a:xfrm>
          <a:prstGeom prst="rect">
            <a:avLst/>
          </a:prstGeom>
          <a:solidFill>
            <a:srgbClr val="1A2F1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450080" y="6217920"/>
            <a:ext cx="146304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096000" y="6217920"/>
            <a:ext cx="243840" cy="243840"/>
          </a:xfrm>
          <a:prstGeom prst="rect">
            <a:avLst/>
          </a:prstGeom>
          <a:solidFill>
            <a:srgbClr val="6E2F0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6400800" y="6217920"/>
            <a:ext cx="146304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VGA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046720" y="6217920"/>
            <a:ext cx="243840" cy="243840"/>
          </a:xfrm>
          <a:prstGeom prst="rect">
            <a:avLst/>
          </a:prstGeom>
          <a:solidFill>
            <a:srgbClr val="1F304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8351520" y="6217920"/>
            <a:ext cx="146304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User Controls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9997440" y="6217920"/>
            <a:ext cx="243840" cy="243840"/>
          </a:xfrm>
          <a:prstGeom prst="rect">
            <a:avLst/>
          </a:prstGeom>
          <a:solidFill>
            <a:srgbClr val="1C283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10302240" y="6217920"/>
            <a:ext cx="146304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I2C Config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2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426720" y="97536"/>
            <a:ext cx="1133856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1: RGB Color Filters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48640" y="914400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48640" y="1280160"/>
            <a:ext cx="1109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Each color channel — Red, Green, and Blue — can be independently attenuated using SW switches. This allows real-time selective filtering of the camera feed without stopping the pixel stream.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48640" y="2097024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Intensity Steps per Channel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48640" y="2462784"/>
            <a:ext cx="11094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Each channel cycles through four levels, controlled by 2 SW switches (4 combinations):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48640" y="2901696"/>
            <a:ext cx="5437632" cy="755904"/>
          </a:xfrm>
          <a:prstGeom prst="rect">
            <a:avLst/>
          </a:prstGeom>
          <a:solidFill>
            <a:srgbClr val="1E4A8A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670560" y="2938272"/>
            <a:ext cx="519379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670560" y="3267456"/>
            <a:ext cx="51937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Pass pixel value unchanged  (SW = 00)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156960" y="2901696"/>
            <a:ext cx="5437632" cy="755904"/>
          </a:xfrm>
          <a:prstGeom prst="rect">
            <a:avLst/>
          </a:prstGeom>
          <a:solidFill>
            <a:srgbClr val="15406E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6278880" y="2938272"/>
            <a:ext cx="519379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½ Intensity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278880" y="3267456"/>
            <a:ext cx="51937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Right-shift pixel by 1 bit  (SW = 01)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48640" y="3779520"/>
            <a:ext cx="5437632" cy="755904"/>
          </a:xfrm>
          <a:prstGeom prst="rect">
            <a:avLst/>
          </a:prstGeom>
          <a:solidFill>
            <a:srgbClr val="0F3054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70560" y="3816096"/>
            <a:ext cx="519379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¼ Intensity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70560" y="4145280"/>
            <a:ext cx="51937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Right-shift pixel by 2 bits  (SW = 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156960" y="3779520"/>
            <a:ext cx="5437632" cy="755904"/>
          </a:xfrm>
          <a:prstGeom prst="rect">
            <a:avLst/>
          </a:prstGeom>
          <a:solidFill>
            <a:srgbClr val="0A1E35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278880" y="3816096"/>
            <a:ext cx="519379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278880" y="4145280"/>
            <a:ext cx="51937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Output 0 for that channel  (SW = 11)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48640" y="4754880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Hardware Implementation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48640" y="5120640"/>
            <a:ext cx="1109472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Bit-shifting is used instead of multiplication — shifting right by 1 halves the value, shifting by 2 quarters it. This is extremely efficient in FPGA fabric and requires no multiplier resources. All three channels operate in parallel on every pixel clock cycle.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9"/>
          <p:cNvCxnSpPr/>
          <p:nvPr/>
        </p:nvCxnSpPr>
        <p:spPr>
          <a:xfrm>
            <a:off x="365760" y="6559296"/>
            <a:ext cx="11460480" cy="0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9"/>
          <p:cNvSpPr/>
          <p:nvPr/>
        </p:nvSpPr>
        <p:spPr>
          <a:xfrm>
            <a:off x="365760" y="6608064"/>
            <a:ext cx="11460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SW switches are sampled synchronously — changes take effect on the next frame.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2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426720" y="97536"/>
            <a:ext cx="1133856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2: Cursor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48640" y="914400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48640" y="1280160"/>
            <a:ext cx="1109472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Two cursor shapes are drawn directly onto the live video feed in blue+green pixels. The user moves the cursor with the four KEY buttons. A slow counter gates movement speed so the cursor can be positioned precisely, and boundary logic prevents it from leaving the screen.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48640" y="2170176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Cursor Types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48640" y="2584704"/>
            <a:ext cx="5437632" cy="877824"/>
          </a:xfrm>
          <a:prstGeom prst="rect">
            <a:avLst/>
          </a:prstGeom>
          <a:solidFill>
            <a:srgbClr val="1E4A8A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670560" y="2609088"/>
            <a:ext cx="519379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3×3 Pixel Block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70560" y="2950464"/>
            <a:ext cx="5193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A solid 3×3 square filled entirely with blue+green pixels. Simple and compact.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6156960" y="2584704"/>
            <a:ext cx="5437632" cy="877824"/>
          </a:xfrm>
          <a:prstGeom prst="rect">
            <a:avLst/>
          </a:prstGeom>
          <a:solidFill>
            <a:srgbClr val="15406E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6278880" y="2609088"/>
            <a:ext cx="519379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10×10 Pixel Box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6278880" y="2950464"/>
            <a:ext cx="5193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A hollow 10×10 square with a 1-pixel border only. Interior remains transparent.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48640" y="3608832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Controls &amp; Movement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48640" y="4047744"/>
            <a:ext cx="877824" cy="414528"/>
          </a:xfrm>
          <a:prstGeom prst="roundRect">
            <a:avLst>
              <a:gd fmla="val 17647" name="adj"/>
            </a:avLst>
          </a:prstGeom>
          <a:solidFill>
            <a:srgbClr val="1E4A8A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48640" y="4047744"/>
            <a:ext cx="877824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548384" y="4047744"/>
            <a:ext cx="304800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Move 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156960" y="4047744"/>
            <a:ext cx="877824" cy="414528"/>
          </a:xfrm>
          <a:prstGeom prst="roundRect">
            <a:avLst>
              <a:gd fmla="val 17647" name="adj"/>
            </a:avLst>
          </a:prstGeom>
          <a:solidFill>
            <a:srgbClr val="1E4A8A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156960" y="4047744"/>
            <a:ext cx="877824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7156704" y="4047744"/>
            <a:ext cx="304800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Move Down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48640" y="4608576"/>
            <a:ext cx="877824" cy="414528"/>
          </a:xfrm>
          <a:prstGeom prst="roundRect">
            <a:avLst>
              <a:gd fmla="val 17647" name="adj"/>
            </a:avLst>
          </a:prstGeom>
          <a:solidFill>
            <a:srgbClr val="1E4A8A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548640" y="4608576"/>
            <a:ext cx="877824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548384" y="4608576"/>
            <a:ext cx="304800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Move Left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156960" y="4608576"/>
            <a:ext cx="877824" cy="414528"/>
          </a:xfrm>
          <a:prstGeom prst="roundRect">
            <a:avLst>
              <a:gd fmla="val 17647" name="adj"/>
            </a:avLst>
          </a:prstGeom>
          <a:solidFill>
            <a:srgbClr val="1E4A8A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156960" y="4608576"/>
            <a:ext cx="877824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7156704" y="4608576"/>
            <a:ext cx="304800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Move Right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48640" y="5266944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Hardware Implementation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48640" y="5632704"/>
            <a:ext cx="1109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A slow counter (variable frequency clock divider) gates cursor movement. Position registers are compared against pixel coordinates each clock cycle — matching pixels are forced to blue+green output regardless of the camera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365760" y="6559296"/>
            <a:ext cx="11460480" cy="0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20"/>
          <p:cNvSpPr/>
          <p:nvPr/>
        </p:nvSpPr>
        <p:spPr>
          <a:xfrm>
            <a:off x="365760" y="6608064"/>
            <a:ext cx="11460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Cursor color is blue+green (R=0, G=255, B=255). Boundary stops movement at col=0, col=639, row=0, row=479.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2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426720" y="97536"/>
            <a:ext cx="1133856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3: Grayscale Conversion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48640" y="914400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548640" y="1280160"/>
            <a:ext cx="1109472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Color pixels from the camera are converted to grayscale in real time. The luminance value is calculated as a weighted sum of the three channels, reflecting how the human eye perceives brightness — most sensitive to green, less to red, and least to blue.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48640" y="2170176"/>
            <a:ext cx="1109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Luminance Formula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548640" y="2560320"/>
            <a:ext cx="11094720" cy="633984"/>
          </a:xfrm>
          <a:prstGeom prst="rect">
            <a:avLst/>
          </a:prstGeom>
          <a:solidFill>
            <a:srgbClr val="0D1F35"/>
          </a:solidFill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48640" y="2560320"/>
            <a:ext cx="11094720" cy="633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Luminance  =  0.2126 x R  +  0.7152 x G  +  0.0722 x 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548640" y="3316224"/>
            <a:ext cx="11094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8-bit Fractional Coefficients  (0.XXXXXXXX format)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48640" y="3706368"/>
            <a:ext cx="11094720" cy="512064"/>
          </a:xfrm>
          <a:prstGeom prst="rect">
            <a:avLst/>
          </a:prstGeom>
          <a:solidFill>
            <a:srgbClr val="7B1A1A"/>
          </a:solidFill>
          <a:ln cap="flat" cmpd="sng" w="9525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670560" y="3706368"/>
            <a:ext cx="853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584960" y="3706368"/>
            <a:ext cx="975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0.2126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621280" y="3706368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x 256 = 54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145280" y="3706368"/>
            <a:ext cx="7315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7BAFD4"/>
                </a:solidFill>
                <a:latin typeface="Consolas"/>
                <a:ea typeface="Consolas"/>
                <a:cs typeface="Consolas"/>
                <a:sym typeface="Consolas"/>
              </a:rPr>
              <a:t>8'b00110110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48640" y="4291584"/>
            <a:ext cx="11094720" cy="512064"/>
          </a:xfrm>
          <a:prstGeom prst="rect">
            <a:avLst/>
          </a:prstGeom>
          <a:solidFill>
            <a:srgbClr val="1A5C2A"/>
          </a:solidFill>
          <a:ln cap="flat" cmpd="sng" w="9525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670560" y="4291584"/>
            <a:ext cx="853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1584960" y="4291584"/>
            <a:ext cx="975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0.7152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621280" y="4291584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x 256 = 183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145280" y="4291584"/>
            <a:ext cx="7315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7BAFD4"/>
                </a:solidFill>
                <a:latin typeface="Consolas"/>
                <a:ea typeface="Consolas"/>
                <a:cs typeface="Consolas"/>
                <a:sym typeface="Consolas"/>
              </a:rPr>
              <a:t>8'b10110111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48640" y="4876800"/>
            <a:ext cx="11094720" cy="512064"/>
          </a:xfrm>
          <a:prstGeom prst="rect">
            <a:avLst/>
          </a:prstGeom>
          <a:solidFill>
            <a:srgbClr val="1A2E7B"/>
          </a:solidFill>
          <a:ln cap="flat" cmpd="sng" w="9525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670560" y="4876800"/>
            <a:ext cx="853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1584960" y="4876800"/>
            <a:ext cx="975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0.0722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621280" y="4876800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x 256 = 18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145280" y="4876800"/>
            <a:ext cx="7315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7BAFD4"/>
                </a:solidFill>
                <a:latin typeface="Consolas"/>
                <a:ea typeface="Consolas"/>
                <a:cs typeface="Consolas"/>
                <a:sym typeface="Consolas"/>
              </a:rPr>
              <a:t>8'b00010010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548640" y="5535168"/>
            <a:ext cx="11094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Hardware Implementation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48640" y="5900928"/>
            <a:ext cx="1109472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Three 8x8 multipliers compute the weighted products. Results are summed in an 18-bit accumulator, then bits [15:8] are taken (divide by 256). All three VGA outputs are set to the same luminance value to produce gray.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365760" y="6559296"/>
            <a:ext cx="11460480" cy="0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21"/>
          <p:cNvSpPr/>
          <p:nvPr/>
        </p:nvSpPr>
        <p:spPr>
          <a:xfrm>
            <a:off x="365760" y="6608064"/>
            <a:ext cx="11460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Grayscale output: VGA_R = VGA_G = VGA_B = luminance[7:0]. Coefficients sum to ~1.0 to preserve brightness.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2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426720" y="97536"/>
            <a:ext cx="1133856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243840" y="950976"/>
            <a:ext cx="5608320" cy="2560320"/>
          </a:xfrm>
          <a:prstGeom prst="rect">
            <a:avLst/>
          </a:prstGeom>
          <a:solidFill>
            <a:srgbClr val="1E2D45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243840" y="2840736"/>
            <a:ext cx="5608320" cy="670560"/>
          </a:xfrm>
          <a:prstGeom prst="rect">
            <a:avLst/>
          </a:prstGeom>
          <a:solidFill>
            <a:srgbClr val="152338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365760" y="2877312"/>
            <a:ext cx="536448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Color Filters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365760" y="3169920"/>
            <a:ext cx="5364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SW-controlled channel attenuation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243840" y="950976"/>
            <a:ext cx="5608320" cy="188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F5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A3F5F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6217920" y="950976"/>
            <a:ext cx="5608320" cy="2560320"/>
          </a:xfrm>
          <a:prstGeom prst="rect">
            <a:avLst/>
          </a:prstGeom>
          <a:solidFill>
            <a:srgbClr val="1E2D45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217920" y="2840736"/>
            <a:ext cx="5608320" cy="670560"/>
          </a:xfrm>
          <a:prstGeom prst="rect">
            <a:avLst/>
          </a:prstGeom>
          <a:solidFill>
            <a:srgbClr val="152338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6339840" y="2877312"/>
            <a:ext cx="536448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Cursor — 3x3 Block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6339840" y="3169920"/>
            <a:ext cx="5364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Solid block cursor on live feed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6217920" y="950976"/>
            <a:ext cx="5608320" cy="188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F5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A3F5F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243840" y="3779520"/>
            <a:ext cx="5608320" cy="2560320"/>
          </a:xfrm>
          <a:prstGeom prst="rect">
            <a:avLst/>
          </a:prstGeom>
          <a:solidFill>
            <a:srgbClr val="1E2D45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243840" y="5669280"/>
            <a:ext cx="5608320" cy="670560"/>
          </a:xfrm>
          <a:prstGeom prst="rect">
            <a:avLst/>
          </a:prstGeom>
          <a:solidFill>
            <a:srgbClr val="152338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365760" y="5705856"/>
            <a:ext cx="536448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Cursor — 10x10 Box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65760" y="5998464"/>
            <a:ext cx="5364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Hollow bordered cursor on live feed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243840" y="3779520"/>
            <a:ext cx="5608320" cy="188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F5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A3F5F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6217920" y="3779520"/>
            <a:ext cx="5608320" cy="2560320"/>
          </a:xfrm>
          <a:prstGeom prst="rect">
            <a:avLst/>
          </a:prstGeom>
          <a:solidFill>
            <a:srgbClr val="1E2D45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6217920" y="5669280"/>
            <a:ext cx="5608320" cy="670560"/>
          </a:xfrm>
          <a:prstGeom prst="rect">
            <a:avLst/>
          </a:prstGeom>
          <a:solidFill>
            <a:srgbClr val="152338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6339840" y="5705856"/>
            <a:ext cx="536448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Grayscale Conversion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6339840" y="5998464"/>
            <a:ext cx="5364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BAFD4"/>
                </a:solidFill>
                <a:latin typeface="Calibri"/>
                <a:ea typeface="Calibri"/>
                <a:cs typeface="Calibri"/>
                <a:sym typeface="Calibri"/>
              </a:rPr>
              <a:t>Luminance-weighted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6217920" y="3779520"/>
            <a:ext cx="5608320" cy="188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F5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A3F5F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22"/>
          <p:cNvCxnSpPr/>
          <p:nvPr/>
        </p:nvCxnSpPr>
        <p:spPr>
          <a:xfrm>
            <a:off x="365760" y="6559296"/>
            <a:ext cx="11460480" cy="0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22"/>
          <p:cNvSpPr/>
          <p:nvPr/>
        </p:nvSpPr>
        <p:spPr>
          <a:xfrm>
            <a:off x="365760" y="6608064"/>
            <a:ext cx="11460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All filters tested on live 640x480 @60Hz camera feed — DE1-SoC FPGA platform.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2B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426720" y="97536"/>
            <a:ext cx="1133856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548640" y="914400"/>
            <a:ext cx="11094720" cy="755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The techniques built in this lab — real-time color filtering, pixel-coordinate overlays, and luminance conversion — form the building blocks of modern video processing systems across industry and research.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548640" y="1828800"/>
            <a:ext cx="11094720" cy="1072896"/>
          </a:xfrm>
          <a:prstGeom prst="rect">
            <a:avLst/>
          </a:prstGeom>
          <a:solidFill>
            <a:srgbClr val="1E2D45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548640" y="1828800"/>
            <a:ext cx="73152" cy="107289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670560" y="1828800"/>
            <a:ext cx="670560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23"/>
          <p:cNvCxnSpPr/>
          <p:nvPr/>
        </p:nvCxnSpPr>
        <p:spPr>
          <a:xfrm>
            <a:off x="1426464" y="2048256"/>
            <a:ext cx="0" cy="633984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23"/>
          <p:cNvSpPr/>
          <p:nvPr/>
        </p:nvSpPr>
        <p:spPr>
          <a:xfrm>
            <a:off x="1621536" y="1901952"/>
            <a:ext cx="268224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 Detection &amp; Image Recognition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1621536" y="2316480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B90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90A8"/>
                </a:solidFill>
                <a:latin typeface="Calibri"/>
                <a:ea typeface="Calibri"/>
                <a:cs typeface="Calibri"/>
                <a:sym typeface="Calibri"/>
              </a:rPr>
              <a:t>Grayscale conversion and color filtering are standard preprocessing steps before feeding frames into a CNN or edge-detection algorithm. FPGAs handle this entirely in hardware, reducing data bandwidth before any software model runs — enabling real-time recognition at high frame rates.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548640" y="3072384"/>
            <a:ext cx="11094720" cy="1072896"/>
          </a:xfrm>
          <a:prstGeom prst="rect">
            <a:avLst/>
          </a:prstGeom>
          <a:solidFill>
            <a:srgbClr val="1E2D45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3"/>
          <p:cNvSpPr/>
          <p:nvPr/>
        </p:nvSpPr>
        <p:spPr>
          <a:xfrm>
            <a:off x="548640" y="3072384"/>
            <a:ext cx="73152" cy="107289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670560" y="3072384"/>
            <a:ext cx="670560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23"/>
          <p:cNvCxnSpPr/>
          <p:nvPr/>
        </p:nvCxnSpPr>
        <p:spPr>
          <a:xfrm>
            <a:off x="1426464" y="3291840"/>
            <a:ext cx="0" cy="633984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23"/>
          <p:cNvSpPr/>
          <p:nvPr/>
        </p:nvSpPr>
        <p:spPr>
          <a:xfrm>
            <a:off x="1621536" y="3145536"/>
            <a:ext cx="268224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Medical Imaging &amp; Thermal Cameras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1621536" y="3560064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B90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90A8"/>
                </a:solidFill>
                <a:latin typeface="Calibri"/>
                <a:ea typeface="Calibri"/>
                <a:cs typeface="Calibri"/>
                <a:sym typeface="Calibri"/>
              </a:rPr>
              <a:t>Channel isolation — suppressing red or blue to enhance specific tissue contrast — is widely used in endoscopy and fluorescence imaging. The same filter architecture can apply false-color overlays or highlight anomalies on live sensor feeds with zero added latency.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548640" y="4315968"/>
            <a:ext cx="11094720" cy="1072896"/>
          </a:xfrm>
          <a:prstGeom prst="rect">
            <a:avLst/>
          </a:prstGeom>
          <a:solidFill>
            <a:srgbClr val="1E2D45"/>
          </a:solidFill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548640" y="4315968"/>
            <a:ext cx="73152" cy="107289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670560" y="4315968"/>
            <a:ext cx="670560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23"/>
          <p:cNvCxnSpPr/>
          <p:nvPr/>
        </p:nvCxnSpPr>
        <p:spPr>
          <a:xfrm>
            <a:off x="1426464" y="4535424"/>
            <a:ext cx="0" cy="633984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23"/>
          <p:cNvSpPr/>
          <p:nvPr/>
        </p:nvSpPr>
        <p:spPr>
          <a:xfrm>
            <a:off x="1621536" y="4389120"/>
            <a:ext cx="268224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 Vehicles &amp; Robotics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1621536" y="4803648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B90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90A8"/>
                </a:solidFill>
                <a:latin typeface="Calibri"/>
                <a:ea typeface="Calibri"/>
                <a:cs typeface="Calibri"/>
                <a:sym typeface="Calibri"/>
              </a:rPr>
              <a:t>Region-of-interest marking and pixel-coordinate tracking are the foundation of bounding-box hardware in ADAS systems. Processing these directly in FPGA fabric — rather than software — allows obstacle detection and lane marking at frame rates a CPU pipeline cannot sustain.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548640" y="5608320"/>
            <a:ext cx="11094720" cy="707136"/>
          </a:xfrm>
          <a:prstGeom prst="rect">
            <a:avLst/>
          </a:prstGeom>
          <a:solidFill>
            <a:srgbClr val="0D1F35"/>
          </a:solidFill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768096" y="5608320"/>
            <a:ext cx="2072640" cy="70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Key Takeaway 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2804160" y="5608320"/>
            <a:ext cx="8717280" cy="70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FPGA hardware parallelism is what makes real-time video processing viable — the same principles used here scale directly into production systems for medical devices, autonomous vehicles, and AI vision pipelines.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23"/>
          <p:cNvCxnSpPr/>
          <p:nvPr/>
        </p:nvCxnSpPr>
        <p:spPr>
          <a:xfrm>
            <a:off x="365760" y="6559296"/>
            <a:ext cx="11460480" cy="0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3"/>
          <p:cNvSpPr/>
          <p:nvPr/>
        </p:nvSpPr>
        <p:spPr>
          <a:xfrm>
            <a:off x="365760" y="6608064"/>
            <a:ext cx="11460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EEC 181A — Digital Systems Design Project  |  Winter 2025  |  UC Davis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2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426720" y="97536"/>
            <a:ext cx="1133856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24"/>
          <p:cNvCxnSpPr/>
          <p:nvPr/>
        </p:nvCxnSpPr>
        <p:spPr>
          <a:xfrm>
            <a:off x="365760" y="792480"/>
            <a:ext cx="1146048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4"/>
          <p:cNvSpPr/>
          <p:nvPr/>
        </p:nvSpPr>
        <p:spPr>
          <a:xfrm>
            <a:off x="548640" y="1036320"/>
            <a:ext cx="1109472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Justin — Getting the example project provided to work was a challenge.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670560" y="1853184"/>
            <a:ext cx="170688" cy="17068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999744" y="1682496"/>
            <a:ext cx="10363200" cy="633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example project would not be properly uploaded onto the FPGA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1158240" y="2609088"/>
            <a:ext cx="170688" cy="170688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1487424" y="2438400"/>
            <a:ext cx="9875520" cy="633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The PLL was not functioning properly (was not locking correctly)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1158240" y="3364992"/>
            <a:ext cx="170688" cy="170688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4"/>
          <p:cNvSpPr/>
          <p:nvPr/>
        </p:nvSpPr>
        <p:spPr>
          <a:xfrm>
            <a:off x="1487424" y="3194304"/>
            <a:ext cx="9875520" cy="633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BB8D4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9BB8D4"/>
                </a:solidFill>
                <a:latin typeface="Calibri"/>
                <a:ea typeface="Calibri"/>
                <a:cs typeface="Calibri"/>
                <a:sym typeface="Calibri"/>
              </a:rPr>
              <a:t>Had to use an example provided by Terasic, and change the VGA configurations to work with the monitor by looking up the correct settings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/>
          <p:nvPr/>
        </p:nvSpPr>
        <p:spPr>
          <a:xfrm>
            <a:off x="4267200" y="1097280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1219200" y="2804160"/>
            <a:ext cx="9753600" cy="134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Calibri"/>
              <a:buNone/>
            </a:pPr>
            <a:r>
              <a:rPr b="1" i="0" lang="en-US" sz="6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1219200" y="4267200"/>
            <a:ext cx="97536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7FB3D3"/>
                </a:solidFill>
                <a:latin typeface="Calibri"/>
                <a:ea typeface="Calibri"/>
                <a:cs typeface="Calibri"/>
                <a:sym typeface="Calibri"/>
              </a:rPr>
              <a:t>Lab 5 - DE1-SOC CAMERA, VIDEO PROCESSING, AND VGA DISPLAY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5"/>
          <p:cNvCxnSpPr/>
          <p:nvPr/>
        </p:nvCxnSpPr>
        <p:spPr>
          <a:xfrm>
            <a:off x="1219200" y="5486400"/>
            <a:ext cx="9753600" cy="0"/>
          </a:xfrm>
          <a:prstGeom prst="straightConnector1">
            <a:avLst/>
          </a:prstGeom>
          <a:noFill/>
          <a:ln cap="flat" cmpd="sng" w="101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25"/>
          <p:cNvSpPr/>
          <p:nvPr/>
        </p:nvSpPr>
        <p:spPr>
          <a:xfrm>
            <a:off x="1219200" y="5608320"/>
            <a:ext cx="975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0A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7B90A8"/>
                </a:solidFill>
                <a:latin typeface="Calibri"/>
                <a:ea typeface="Calibri"/>
                <a:cs typeface="Calibri"/>
                <a:sym typeface="Calibri"/>
              </a:rPr>
              <a:t>FPGA Digital Design Team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